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5506" y="357187"/>
            <a:ext cx="8925106" cy="446484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2200" b="1">
                <a:solidFill>
                  <a:srgbClr val="1B6DB4"/>
                </a:solidFill>
                <a:latin typeface="Noto Sans JP"/>
              </a:rPr>
              <a:t>凡例 — GYS PPTワイヤーの読み方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5506" y="1071562"/>
            <a:ext cx="2142025" cy="392906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5506" y="1071562"/>
            <a:ext cx="2142025" cy="39290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3F4A56"/>
                </a:solidFill>
                <a:latin typeface="Noto Sans JP"/>
              </a:rPr>
              <a:t>グレーボックス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6034" y="1071562"/>
            <a:ext cx="6783080" cy="39290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200" b="0">
                <a:solidFill>
                  <a:srgbClr val="212529"/>
                </a:solidFill>
                <a:latin typeface="Noto Sans JP"/>
              </a:rPr>
              <a:t>UI要素のワイヤー(構造のみ・配色は実装で適用)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5506" y="1607343"/>
            <a:ext cx="2142025" cy="392906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506" y="1607343"/>
            <a:ext cx="2142025" cy="39290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3F4A56"/>
                </a:solidFill>
                <a:latin typeface="Noto Sans JP"/>
              </a:rPr>
              <a:t>⟦Component⟧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6034" y="1607343"/>
            <a:ext cx="6783080" cy="39290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200" b="0">
                <a:solidFill>
                  <a:srgbClr val="212529"/>
                </a:solidFill>
                <a:latin typeface="Noto Sans JP"/>
              </a:rPr>
              <a:t>対応する shared-component (例: AmountField / DualInputField)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5506" y="2143125"/>
            <a:ext cx="2142025" cy="392906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5506" y="2143125"/>
            <a:ext cx="2142025" cy="39290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3F4A56"/>
                </a:solidFill>
                <a:latin typeface="Noto Sans JP"/>
              </a:rPr>
              <a:t>token:xxx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6034" y="2143125"/>
            <a:ext cx="6783080" cy="39290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200" b="0">
                <a:solidFill>
                  <a:srgbClr val="212529"/>
                </a:solidFill>
                <a:latin typeface="Noto Sans JP"/>
              </a:rPr>
              <a:t>適用するDSトークン (例: bg-input / primary / notice-bg)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5506" y="2678906"/>
            <a:ext cx="2142025" cy="392906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5506" y="2678906"/>
            <a:ext cx="2142025" cy="39290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3F4A56"/>
                </a:solidFill>
                <a:latin typeface="Noto Sans JP"/>
              </a:rPr>
              <a:t>4点セット枠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6034" y="2678906"/>
            <a:ext cx="6783080" cy="39290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200" b="0">
                <a:solidFill>
                  <a:srgbClr val="212529"/>
                </a:solidFill>
                <a:latin typeface="Noto Sans JP"/>
              </a:rPr>
              <a:t>Header / Sidebar / Footer / Breadcrumb は実装側 import 構造に対応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5506" y="3214687"/>
            <a:ext cx="2142025" cy="392906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5506" y="3214687"/>
            <a:ext cx="2142025" cy="39290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3F4A56"/>
                </a:solidFill>
                <a:latin typeface="Noto Sans JP"/>
              </a:rPr>
              <a:t>(新規)表記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6034" y="3214687"/>
            <a:ext cx="6783080" cy="39290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200" b="0">
                <a:solidFill>
                  <a:srgbClr val="212529"/>
                </a:solidFill>
                <a:latin typeface="Noto Sans JP"/>
              </a:rPr>
              <a:t>shared-components 未収載の新規追加候補コンポ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2937"/>
          </a:xfrm>
          <a:prstGeom prst="rect">
            <a:avLst/>
          </a:prstGeom>
          <a:solidFill>
            <a:srgbClr val="E4F5FF"/>
          </a:solidFill>
          <a:ln w="12700">
            <a:solidFill>
              <a:srgbClr val="C2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2801" y="0"/>
            <a:ext cx="3213038" cy="642937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300" b="1">
                <a:solidFill>
                  <a:srgbClr val="1B6DB4"/>
                </a:solidFill>
                <a:latin typeface="Noto Sans JP"/>
              </a:rPr>
              <a:t>GYS 公営企業会計システム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28171" y="0"/>
            <a:ext cx="1785021" cy="642937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r"/>
            <a:r>
              <a:rPr sz="1100" b="0">
                <a:solidFill>
                  <a:srgbClr val="8893A0"/>
                </a:solidFill>
                <a:latin typeface="Noto Sans JP"/>
              </a:rPr>
              <a:t>user ▾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2937"/>
            <a:ext cx="2499029" cy="6215062"/>
          </a:xfrm>
          <a:prstGeom prst="rect">
            <a:avLst/>
          </a:prstGeom>
          <a:solidFill>
            <a:srgbClr val="F1F9FF"/>
          </a:solidFill>
          <a:ln w="12700">
            <a:solidFill>
              <a:srgbClr val="C2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4951" y="714375"/>
            <a:ext cx="2320527" cy="196453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000" b="1">
                <a:solidFill>
                  <a:srgbClr val="8893A0"/>
                </a:solidFill>
                <a:latin typeface="Noto Sans JP"/>
              </a:rPr>
              <a:t>メニュー</a:t>
            </a:r>
          </a:p>
        </p:txBody>
      </p:sp>
      <p:sp>
        <p:nvSpPr>
          <p:cNvPr id="7" name="Rectangle 6"/>
          <p:cNvSpPr/>
          <p:nvPr/>
        </p:nvSpPr>
        <p:spPr>
          <a:xfrm>
            <a:off x="89251" y="964406"/>
            <a:ext cx="2320527" cy="250031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651" y="964406"/>
            <a:ext cx="2231276" cy="250031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900" b="0">
                <a:solidFill>
                  <a:srgbClr val="8893A0"/>
                </a:solidFill>
                <a:latin typeface="Noto Sans JP"/>
              </a:rPr>
              <a:t>メニュー項目 1</a:t>
            </a:r>
          </a:p>
        </p:txBody>
      </p:sp>
      <p:sp>
        <p:nvSpPr>
          <p:cNvPr id="9" name="Rectangle 8"/>
          <p:cNvSpPr/>
          <p:nvPr/>
        </p:nvSpPr>
        <p:spPr>
          <a:xfrm>
            <a:off x="89251" y="1268015"/>
            <a:ext cx="2320527" cy="250031"/>
          </a:xfrm>
          <a:prstGeom prst="rect">
            <a:avLst/>
          </a:prstGeom>
          <a:solidFill>
            <a:srgbClr val="DBEBF5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651" y="1268015"/>
            <a:ext cx="2231276" cy="250031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900" b="1">
                <a:solidFill>
                  <a:srgbClr val="1B6DB4"/>
                </a:solidFill>
                <a:latin typeface="Noto Sans JP"/>
              </a:rPr>
              <a:t>メニュー項目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251" y="1571625"/>
            <a:ext cx="2320527" cy="250031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651" y="1571625"/>
            <a:ext cx="2231276" cy="250031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900" b="0">
                <a:solidFill>
                  <a:srgbClr val="8893A0"/>
                </a:solidFill>
                <a:latin typeface="Noto Sans JP"/>
              </a:rPr>
              <a:t>メニュー項目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251" y="1875234"/>
            <a:ext cx="2320527" cy="250031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651" y="1875234"/>
            <a:ext cx="2231276" cy="250031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900" b="0">
                <a:solidFill>
                  <a:srgbClr val="8893A0"/>
                </a:solidFill>
                <a:latin typeface="Noto Sans JP"/>
              </a:rPr>
              <a:t>メニュー項目 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251" y="2178843"/>
            <a:ext cx="2320527" cy="250031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651" y="2178843"/>
            <a:ext cx="2231276" cy="250031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900" b="0">
                <a:solidFill>
                  <a:srgbClr val="8893A0"/>
                </a:solidFill>
                <a:latin typeface="Noto Sans JP"/>
              </a:rPr>
              <a:t>メニュー項目 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251" y="2482453"/>
            <a:ext cx="2320527" cy="250031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0651" y="2482453"/>
            <a:ext cx="2231276" cy="250031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900" b="0">
                <a:solidFill>
                  <a:srgbClr val="8893A0"/>
                </a:solidFill>
                <a:latin typeface="Noto Sans JP"/>
              </a:rPr>
              <a:t>メニュー項目 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251" y="2786062"/>
            <a:ext cx="2320527" cy="250031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0651" y="2786062"/>
            <a:ext cx="2231276" cy="250031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900" b="0">
                <a:solidFill>
                  <a:srgbClr val="8893A0"/>
                </a:solidFill>
                <a:latin typeface="Noto Sans JP"/>
              </a:rPr>
              <a:t>メニュー項目 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251" y="3089671"/>
            <a:ext cx="2320527" cy="250031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0651" y="3089671"/>
            <a:ext cx="2231276" cy="250031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900" b="0">
                <a:solidFill>
                  <a:srgbClr val="8893A0"/>
                </a:solidFill>
                <a:latin typeface="Noto Sans JP"/>
              </a:rPr>
              <a:t>メニュー項目 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41831" y="642937"/>
            <a:ext cx="9407062" cy="250031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900" b="0">
                <a:solidFill>
                  <a:srgbClr val="8893A0"/>
                </a:solidFill>
                <a:latin typeface="Noto Sans JP"/>
              </a:rPr>
              <a:t>予算編成 &gt; 固定資産 &gt; 取得資産対象登録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41831" y="892968"/>
            <a:ext cx="7907644" cy="39290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Noto Sans JP"/>
              </a:rPr>
              <a:t>取得資産対象登録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52929" y="964406"/>
            <a:ext cx="1071012" cy="232171"/>
          </a:xfrm>
          <a:prstGeom prst="roundRect">
            <a:avLst/>
          </a:prstGeom>
          <a:solidFill>
            <a:srgbClr val="DBEBF5"/>
          </a:solidFill>
          <a:ln w="12700">
            <a:solidFill>
              <a:srgbClr val="1B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52929" y="964406"/>
            <a:ext cx="1071012" cy="232171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000" b="1">
                <a:solidFill>
                  <a:srgbClr val="1B6DB4"/>
                </a:solidFill>
                <a:latin typeface="Noto Sans JP"/>
              </a:rPr>
              <a:t>BFD_ASSET_REG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41831" y="1339453"/>
            <a:ext cx="981761" cy="285750"/>
          </a:xfrm>
          <a:prstGeom prst="roundRect">
            <a:avLst/>
          </a:prstGeom>
          <a:solidFill>
            <a:srgbClr val="DBEBF5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41831" y="1339453"/>
            <a:ext cx="981761" cy="28575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000" b="1">
                <a:solidFill>
                  <a:srgbClr val="1B6DB4"/>
                </a:solidFill>
                <a:latin typeface="Noto Sans JP"/>
              </a:rPr>
              <a:t>登録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6531"/>
            <a:ext cx="12191695" cy="321468"/>
          </a:xfrm>
          <a:prstGeom prst="rect">
            <a:avLst/>
          </a:prstGeom>
          <a:solidFill>
            <a:srgbClr val="F8FAFC"/>
          </a:solidFill>
          <a:ln w="12700">
            <a:solidFill>
              <a:srgbClr val="C2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2801" y="6536531"/>
            <a:ext cx="4462553" cy="32146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900" b="0">
                <a:solidFill>
                  <a:srgbClr val="8893A0"/>
                </a:solidFill>
                <a:latin typeface="Noto Sans JP"/>
              </a:rPr>
              <a:t>© funlead corp. / GYS wireframe</a:t>
            </a:r>
          </a:p>
        </p:txBody>
      </p:sp>
      <p:sp>
        <p:nvSpPr>
          <p:cNvPr id="31" name="Oval 30"/>
          <p:cNvSpPr/>
          <p:nvPr/>
        </p:nvSpPr>
        <p:spPr>
          <a:xfrm>
            <a:off x="5463950" y="1730573"/>
            <a:ext cx="142801" cy="1428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42452" y="1669405"/>
            <a:ext cx="3584322" cy="265211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3F4A56"/>
                </a:solidFill>
                <a:latin typeface="Noto Sans JP"/>
              </a:rPr>
              <a:t>●登録　○訂正　○削除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3950" y="1925687"/>
            <a:ext cx="3762824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⟦RadioGroup §3.2.18⟧  token:primary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29972" y="2023020"/>
            <a:ext cx="4421319" cy="574625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01373" y="2058739"/>
            <a:ext cx="4278517" cy="196453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00" b="1">
                <a:solidFill>
                  <a:srgbClr val="3F4A56"/>
                </a:solidFill>
                <a:latin typeface="Noto Sans JP"/>
              </a:rPr>
              <a:t>登録区分</a:t>
            </a:r>
          </a:p>
        </p:txBody>
      </p:sp>
      <p:sp>
        <p:nvSpPr>
          <p:cNvPr id="36" name="Oval 35"/>
          <p:cNvSpPr/>
          <p:nvPr/>
        </p:nvSpPr>
        <p:spPr>
          <a:xfrm>
            <a:off x="3018113" y="2283097"/>
            <a:ext cx="142801" cy="1428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96616" y="2199828"/>
            <a:ext cx="3866534" cy="309413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3F4A56"/>
                </a:solidFill>
                <a:latin typeface="Noto Sans JP"/>
              </a:rPr>
              <a:t>●本登録　○一部科目更正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8113" y="2500312"/>
            <a:ext cx="4045036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⟦RadioGroup §3.2.18⟧  token:primary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29972" y="2686050"/>
            <a:ext cx="1222918" cy="265211"/>
          </a:xfrm>
          <a:prstGeom prst="roundRect">
            <a:avLst/>
          </a:prstGeom>
          <a:solidFill>
            <a:srgbClr val="EDF1F5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29972" y="2686050"/>
            <a:ext cx="1222918" cy="265211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100" b="1">
                <a:solidFill>
                  <a:srgbClr val="3F4A56"/>
                </a:solidFill>
                <a:latin typeface="Noto Sans JP"/>
              </a:rPr>
              <a:t>資産番号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29972" y="2942332"/>
            <a:ext cx="1222918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⟦(新規)コード検索ボタン⟧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46961" y="2686050"/>
            <a:ext cx="1316988" cy="265211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0512" y="2686050"/>
            <a:ext cx="1209887" cy="265211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3F4A56"/>
                </a:solidFill>
                <a:latin typeface="Noto Sans JP"/>
              </a:rPr>
              <a:t>5050012800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46961" y="2942332"/>
            <a:ext cx="1316988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token:bg-input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558020" y="2686050"/>
            <a:ext cx="1128847" cy="265211"/>
          </a:xfrm>
          <a:prstGeom prst="roundRect">
            <a:avLst/>
          </a:prstGeom>
          <a:solidFill>
            <a:srgbClr val="EDF1F5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58020" y="2686050"/>
            <a:ext cx="1128847" cy="265211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100" b="1">
                <a:solidFill>
                  <a:srgbClr val="3F4A56"/>
                </a:solidFill>
                <a:latin typeface="Noto Sans JP"/>
              </a:rPr>
              <a:t>登録参照番号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58020" y="2942332"/>
            <a:ext cx="1128847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⟦(新規)無効状態ボタン⟧  token:bg-readonly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80938" y="2686050"/>
            <a:ext cx="470353" cy="265211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34489" y="2686050"/>
            <a:ext cx="363251" cy="265211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3F4A56"/>
                </a:solidFill>
                <a:latin typeface="Noto Sans JP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80938" y="2942332"/>
            <a:ext cx="470353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token:bg-readonly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29972" y="3039665"/>
            <a:ext cx="4421319" cy="265211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883523" y="3039665"/>
            <a:ext cx="4314217" cy="265211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3F4A56"/>
                </a:solidFill>
                <a:latin typeface="Noto Sans JP"/>
              </a:rPr>
              <a:t>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29972" y="3295947"/>
            <a:ext cx="4421319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token:bg-input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829972" y="3349079"/>
            <a:ext cx="4421319" cy="265211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883523" y="3349079"/>
            <a:ext cx="4314217" cy="265211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3F4A56"/>
                </a:solidFill>
                <a:latin typeface="Noto Sans JP"/>
              </a:rPr>
              <a:t>細節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29972" y="3605361"/>
            <a:ext cx="4421319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token:bg-input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829972" y="3658492"/>
            <a:ext cx="1975483" cy="265211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883523" y="3658492"/>
            <a:ext cx="1868381" cy="265211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3F4A56"/>
                </a:solidFill>
                <a:latin typeface="Noto Sans JP"/>
              </a:rPr>
              <a:t>明細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29972" y="3914775"/>
            <a:ext cx="1975483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token:bg-input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899526" y="3658492"/>
            <a:ext cx="1222918" cy="265211"/>
          </a:xfrm>
          <a:prstGeom prst="roundRect">
            <a:avLst/>
          </a:prstGeom>
          <a:solidFill>
            <a:srgbClr val="EDF1F5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899526" y="3658492"/>
            <a:ext cx="1222918" cy="265211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100" b="1">
                <a:solidFill>
                  <a:srgbClr val="3F4A56"/>
                </a:solidFill>
                <a:latin typeface="Noto Sans JP"/>
              </a:rPr>
              <a:t>科目検索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99526" y="3914775"/>
            <a:ext cx="1222918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⟦Mainボタン(科目マスタ検索)⟧  token:primary-light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829972" y="3967906"/>
            <a:ext cx="4421319" cy="265211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883523" y="3967906"/>
            <a:ext cx="4314217" cy="265211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3F4A56"/>
                </a:solidFill>
                <a:latin typeface="Noto Sans JP"/>
              </a:rPr>
              <a:t>資産名称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29972" y="4224188"/>
            <a:ext cx="4421319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token:bg-input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29972" y="4277320"/>
            <a:ext cx="4421319" cy="265211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883523" y="4277320"/>
            <a:ext cx="4314217" cy="265211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3F4A56"/>
                </a:solidFill>
                <a:latin typeface="Noto Sans JP"/>
              </a:rPr>
              <a:t>異動摘要　取得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829972" y="4533602"/>
            <a:ext cx="4421319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token:bg-input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829972" y="4586733"/>
            <a:ext cx="1222918" cy="265211"/>
          </a:xfrm>
          <a:prstGeom prst="roundRect">
            <a:avLst/>
          </a:prstGeom>
          <a:solidFill>
            <a:srgbClr val="EDF1F5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829972" y="4586733"/>
            <a:ext cx="1222918" cy="265211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100" b="1">
                <a:solidFill>
                  <a:srgbClr val="3F4A56"/>
                </a:solidFill>
                <a:latin typeface="Noto Sans JP"/>
              </a:rPr>
              <a:t>所在地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829972" y="4843016"/>
            <a:ext cx="1222918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⟦(新規)住所検索ボタン⟧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46961" y="4586733"/>
            <a:ext cx="3104330" cy="486221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200512" y="4586733"/>
            <a:ext cx="2997229" cy="486221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3F4A56"/>
                </a:solidFill>
                <a:latin typeface="Noto Sans JP"/>
              </a:rPr>
              <a:t>（住所2行）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46961" y="5064025"/>
            <a:ext cx="3104330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token:bg-input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829972" y="5117157"/>
            <a:ext cx="1222918" cy="265211"/>
          </a:xfrm>
          <a:prstGeom prst="roundRect">
            <a:avLst/>
          </a:prstGeom>
          <a:solidFill>
            <a:srgbClr val="EDF1F5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829972" y="5117157"/>
            <a:ext cx="1222918" cy="265211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100" b="1">
                <a:solidFill>
                  <a:srgbClr val="3F4A56"/>
                </a:solidFill>
                <a:latin typeface="Noto Sans JP"/>
              </a:rPr>
              <a:t>施設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829972" y="5373439"/>
            <a:ext cx="1222918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⟦(新規)コード検索ボタン⟧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46961" y="5117157"/>
            <a:ext cx="3104330" cy="265211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200512" y="5117157"/>
            <a:ext cx="2997229" cy="265211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3F4A56"/>
                </a:solidFill>
                <a:latin typeface="Noto Sans JP"/>
              </a:rPr>
              <a:t/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46961" y="5373439"/>
            <a:ext cx="3104330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token:bg-input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829972" y="5426571"/>
            <a:ext cx="1222918" cy="265211"/>
          </a:xfrm>
          <a:prstGeom prst="roundRect">
            <a:avLst/>
          </a:prstGeom>
          <a:solidFill>
            <a:srgbClr val="EDF1F5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829972" y="5426571"/>
            <a:ext cx="1222918" cy="265211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100" b="1">
                <a:solidFill>
                  <a:srgbClr val="3F4A56"/>
                </a:solidFill>
                <a:latin typeface="Noto Sans JP"/>
              </a:rPr>
              <a:t>部門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829972" y="5682853"/>
            <a:ext cx="1222918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⟦(新規)コード検索ボタン⟧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146961" y="5426571"/>
            <a:ext cx="3104330" cy="265211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200512" y="5426571"/>
            <a:ext cx="2997229" cy="265211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3F4A56"/>
                </a:solidFill>
                <a:latin typeface="Noto Sans JP"/>
              </a:rPr>
              <a:t/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146961" y="5682853"/>
            <a:ext cx="3104330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token:bg-input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829972" y="5735984"/>
            <a:ext cx="1222918" cy="309413"/>
          </a:xfrm>
          <a:prstGeom prst="roundRect">
            <a:avLst/>
          </a:prstGeom>
          <a:solidFill>
            <a:srgbClr val="EDF1F5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829972" y="5735984"/>
            <a:ext cx="1222918" cy="309413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100" b="1">
                <a:solidFill>
                  <a:srgbClr val="3F4A56"/>
                </a:solidFill>
                <a:latin typeface="Noto Sans JP"/>
              </a:rPr>
              <a:t>地区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829972" y="6036468"/>
            <a:ext cx="1222918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⟦(新規)コード検索ボタン⟧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146961" y="5735984"/>
            <a:ext cx="3104330" cy="309413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200512" y="5735984"/>
            <a:ext cx="2997229" cy="309413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3F4A56"/>
                </a:solidFill>
                <a:latin typeface="Noto Sans JP"/>
              </a:rPr>
              <a:t/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146961" y="6036468"/>
            <a:ext cx="3104330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token:bg-input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439433" y="2023020"/>
            <a:ext cx="4421319" cy="574625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510833" y="2058739"/>
            <a:ext cx="4278517" cy="196453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00" b="1">
                <a:solidFill>
                  <a:srgbClr val="3F4A56"/>
                </a:solidFill>
                <a:latin typeface="Noto Sans JP"/>
              </a:rPr>
              <a:t>参照負担情報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627574" y="2199828"/>
            <a:ext cx="1881412" cy="176807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681124" y="2199828"/>
            <a:ext cx="1667209" cy="176807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3F4A56"/>
                </a:solidFill>
                <a:latin typeface="Noto Sans JP"/>
              </a:rPr>
              <a:t>負担年度　令和06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330484" y="2199828"/>
            <a:ext cx="142801" cy="176807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700" b="0">
                <a:solidFill>
                  <a:srgbClr val="8893A0"/>
                </a:solidFill>
                <a:latin typeface="Noto Sans JP"/>
              </a:rPr>
              <a:t>▲
▼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627574" y="2367706"/>
            <a:ext cx="1881412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⟦InputText+Stepper(独自)⟧  token:bg-input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627574" y="2420838"/>
            <a:ext cx="1693271" cy="176807"/>
          </a:xfrm>
          <a:prstGeom prst="roundRect">
            <a:avLst/>
          </a:prstGeom>
          <a:solidFill>
            <a:srgbClr val="EDF1F5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627574" y="2420838"/>
            <a:ext cx="1693271" cy="176807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100" b="1">
                <a:solidFill>
                  <a:srgbClr val="3F4A56"/>
                </a:solidFill>
                <a:latin typeface="Noto Sans JP"/>
              </a:rPr>
              <a:t>負担番号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627574" y="2588716"/>
            <a:ext cx="1693271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⟦(新規)コード検索ボタン⟧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414916" y="2420838"/>
            <a:ext cx="940706" cy="176807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468466" y="2420838"/>
            <a:ext cx="833604" cy="176807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3F4A56"/>
                </a:solidFill>
                <a:latin typeface="Noto Sans JP"/>
              </a:rPr>
              <a:t>明細番号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414916" y="2588716"/>
            <a:ext cx="940706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token:bg-input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439433" y="2730251"/>
            <a:ext cx="4421319" cy="265211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492983" y="2730251"/>
            <a:ext cx="4171416" cy="265211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3F4A56"/>
                </a:solidFill>
                <a:latin typeface="Noto Sans JP"/>
              </a:rPr>
              <a:t>会計区分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664399" y="2730251"/>
            <a:ext cx="160651" cy="265211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900" b="0">
                <a:solidFill>
                  <a:srgbClr val="8893A0"/>
                </a:solidFill>
                <a:latin typeface="Noto Sans JP"/>
              </a:rPr>
              <a:t>▼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439433" y="2986533"/>
            <a:ext cx="4421319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⟦SelectBox §3.2.15⟧  token:bg-input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439433" y="3083867"/>
            <a:ext cx="2069553" cy="265211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492983" y="3083867"/>
            <a:ext cx="1855351" cy="265211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3F4A56"/>
                </a:solidFill>
                <a:latin typeface="Noto Sans JP"/>
              </a:rPr>
              <a:t>施工年度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330484" y="3083867"/>
            <a:ext cx="142801" cy="265211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700" b="0">
                <a:solidFill>
                  <a:srgbClr val="8893A0"/>
                </a:solidFill>
                <a:latin typeface="Noto Sans JP"/>
              </a:rPr>
              <a:t>▲
▼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439433" y="3340149"/>
            <a:ext cx="2069553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⟦InputText+Stepper(独自)⟧  token:bg-input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697127" y="3083867"/>
            <a:ext cx="2163624" cy="265211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750678" y="3083867"/>
            <a:ext cx="2056522" cy="265211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3F4A56"/>
                </a:solidFill>
                <a:latin typeface="Noto Sans JP"/>
              </a:rPr>
              <a:t>竣工年月日　＿年＿月＿日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697127" y="3340149"/>
            <a:ext cx="2163624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token:bg-input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7439433" y="3437483"/>
            <a:ext cx="1411059" cy="265211"/>
          </a:xfrm>
          <a:prstGeom prst="roundRect">
            <a:avLst/>
          </a:prstGeom>
          <a:solidFill>
            <a:srgbClr val="EDF1F5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439433" y="3437483"/>
            <a:ext cx="1411059" cy="265211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100" b="1">
                <a:solidFill>
                  <a:srgbClr val="3F4A56"/>
                </a:solidFill>
                <a:latin typeface="Noto Sans JP"/>
              </a:rPr>
              <a:t>業者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439433" y="3693765"/>
            <a:ext cx="1411059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⟦(新規)コード検索ボタン⟧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9038633" y="3437483"/>
            <a:ext cx="2822118" cy="265211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092184" y="3437483"/>
            <a:ext cx="2715017" cy="265211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3F4A56"/>
                </a:solidFill>
                <a:latin typeface="Noto Sans JP"/>
              </a:rPr>
              <a:t/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038633" y="3693765"/>
            <a:ext cx="2822118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token:bg-input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7439433" y="3791098"/>
            <a:ext cx="1411059" cy="265211"/>
          </a:xfrm>
          <a:prstGeom prst="roundRect">
            <a:avLst/>
          </a:prstGeom>
          <a:solidFill>
            <a:srgbClr val="EDF1F5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439433" y="3791098"/>
            <a:ext cx="1411059" cy="265211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100" b="1">
                <a:solidFill>
                  <a:srgbClr val="3F4A56"/>
                </a:solidFill>
                <a:latin typeface="Noto Sans JP"/>
              </a:rPr>
              <a:t>所属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439433" y="4047380"/>
            <a:ext cx="1411059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⟦(新規)コード検索ボタン⟧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038633" y="3791098"/>
            <a:ext cx="2822118" cy="265211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092184" y="3791098"/>
            <a:ext cx="2715017" cy="265211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3F4A56"/>
                </a:solidFill>
                <a:latin typeface="Noto Sans JP"/>
              </a:rPr>
              <a:t/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038633" y="4047380"/>
            <a:ext cx="2822118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token:bg-input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439433" y="4144714"/>
            <a:ext cx="4421319" cy="265211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492983" y="4144714"/>
            <a:ext cx="4314217" cy="265211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3F4A56"/>
                </a:solidFill>
                <a:latin typeface="Noto Sans JP"/>
              </a:rPr>
              <a:t>取得年月日　令和07年03月31日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439433" y="4400996"/>
            <a:ext cx="4421319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token:bg-readonly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439433" y="4498330"/>
            <a:ext cx="4421319" cy="265211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492983" y="4498330"/>
            <a:ext cx="4314217" cy="265211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3F4A56"/>
                </a:solidFill>
                <a:latin typeface="Noto Sans JP"/>
              </a:rPr>
              <a:t>取得価額　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439433" y="4754612"/>
            <a:ext cx="4421319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token:bg-input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7439433" y="4851945"/>
            <a:ext cx="2539906" cy="618827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10833" y="4887664"/>
            <a:ext cx="2397105" cy="196453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00" b="1">
                <a:solidFill>
                  <a:srgbClr val="3F4A56"/>
                </a:solidFill>
                <a:latin typeface="Noto Sans JP"/>
              </a:rPr>
              <a:t>償却方法</a:t>
            </a:r>
          </a:p>
        </p:txBody>
      </p:sp>
      <p:sp>
        <p:nvSpPr>
          <p:cNvPr id="136" name="Oval 135"/>
          <p:cNvSpPr/>
          <p:nvPr/>
        </p:nvSpPr>
        <p:spPr>
          <a:xfrm>
            <a:off x="7627574" y="5045719"/>
            <a:ext cx="142801" cy="1428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806076" y="5028753"/>
            <a:ext cx="950345" cy="176807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3F4A56"/>
                </a:solidFill>
                <a:latin typeface="Noto Sans JP"/>
              </a:rPr>
              <a:t>●定額法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627574" y="5196631"/>
            <a:ext cx="1128847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token:primary</a:t>
            </a:r>
          </a:p>
        </p:txBody>
      </p:sp>
      <p:sp>
        <p:nvSpPr>
          <p:cNvPr id="139" name="Oval 138"/>
          <p:cNvSpPr/>
          <p:nvPr/>
        </p:nvSpPr>
        <p:spPr>
          <a:xfrm>
            <a:off x="8850492" y="5045719"/>
            <a:ext cx="142801" cy="1428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028994" y="5028753"/>
            <a:ext cx="950345" cy="176807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3F4A56"/>
                </a:solidFill>
                <a:latin typeface="Noto Sans JP"/>
              </a:rPr>
              <a:t>○定額法(月割)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850492" y="5196631"/>
            <a:ext cx="1128847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token:primary</a:t>
            </a:r>
          </a:p>
        </p:txBody>
      </p:sp>
      <p:sp>
        <p:nvSpPr>
          <p:cNvPr id="142" name="Oval 141"/>
          <p:cNvSpPr/>
          <p:nvPr/>
        </p:nvSpPr>
        <p:spPr>
          <a:xfrm>
            <a:off x="7627574" y="5266729"/>
            <a:ext cx="142801" cy="1428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806076" y="5249763"/>
            <a:ext cx="950345" cy="176807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3F4A56"/>
                </a:solidFill>
                <a:latin typeface="Noto Sans JP"/>
              </a:rPr>
              <a:t>○定率法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627574" y="5417641"/>
            <a:ext cx="1128847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token:primary</a:t>
            </a:r>
          </a:p>
        </p:txBody>
      </p:sp>
      <p:sp>
        <p:nvSpPr>
          <p:cNvPr id="145" name="Oval 144"/>
          <p:cNvSpPr/>
          <p:nvPr/>
        </p:nvSpPr>
        <p:spPr>
          <a:xfrm>
            <a:off x="8850492" y="5266729"/>
            <a:ext cx="142801" cy="1428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028994" y="5249763"/>
            <a:ext cx="950345" cy="176807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3F4A56"/>
                </a:solidFill>
                <a:latin typeface="Noto Sans JP"/>
              </a:rPr>
              <a:t>○定率法(月割)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850492" y="5417641"/>
            <a:ext cx="1128847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token:primary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7439433" y="5559176"/>
            <a:ext cx="2539906" cy="486221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7510833" y="5594895"/>
            <a:ext cx="2397105" cy="196453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00" b="1">
                <a:solidFill>
                  <a:srgbClr val="3F4A56"/>
                </a:solidFill>
                <a:latin typeface="Noto Sans JP"/>
              </a:rPr>
              <a:t>明細区分</a:t>
            </a:r>
          </a:p>
        </p:txBody>
      </p:sp>
      <p:sp>
        <p:nvSpPr>
          <p:cNvPr id="150" name="Oval 149"/>
          <p:cNvSpPr/>
          <p:nvPr/>
        </p:nvSpPr>
        <p:spPr>
          <a:xfrm>
            <a:off x="7627574" y="5708749"/>
            <a:ext cx="142801" cy="1428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7806076" y="5691782"/>
            <a:ext cx="950345" cy="176807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3F4A56"/>
                </a:solidFill>
                <a:latin typeface="Noto Sans JP"/>
              </a:rPr>
              <a:t>●管種(金額有)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627574" y="5859660"/>
            <a:ext cx="1128847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token:primary</a:t>
            </a:r>
          </a:p>
        </p:txBody>
      </p:sp>
      <p:sp>
        <p:nvSpPr>
          <p:cNvPr id="153" name="Oval 152"/>
          <p:cNvSpPr/>
          <p:nvPr/>
        </p:nvSpPr>
        <p:spPr>
          <a:xfrm>
            <a:off x="8850492" y="5708749"/>
            <a:ext cx="142801" cy="1428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9028994" y="5691782"/>
            <a:ext cx="950345" cy="176807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3F4A56"/>
                </a:solidFill>
                <a:latin typeface="Noto Sans JP"/>
              </a:rPr>
              <a:t>○構造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850492" y="5859660"/>
            <a:ext cx="1128847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token:primary</a:t>
            </a:r>
          </a:p>
        </p:txBody>
      </p:sp>
      <p:sp>
        <p:nvSpPr>
          <p:cNvPr id="156" name="Oval 155"/>
          <p:cNvSpPr/>
          <p:nvPr/>
        </p:nvSpPr>
        <p:spPr>
          <a:xfrm>
            <a:off x="7627574" y="5885557"/>
            <a:ext cx="142801" cy="1428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7806076" y="5868590"/>
            <a:ext cx="950345" cy="176807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3F4A56"/>
                </a:solidFill>
                <a:latin typeface="Noto Sans JP"/>
              </a:rPr>
              <a:t>○管種(金額無)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627574" y="6036468"/>
            <a:ext cx="1128847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token:primary</a:t>
            </a:r>
          </a:p>
        </p:txBody>
      </p:sp>
      <p:sp>
        <p:nvSpPr>
          <p:cNvPr id="159" name="Oval 158"/>
          <p:cNvSpPr/>
          <p:nvPr/>
        </p:nvSpPr>
        <p:spPr>
          <a:xfrm>
            <a:off x="8850492" y="5885557"/>
            <a:ext cx="142801" cy="1428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028994" y="5868590"/>
            <a:ext cx="950345" cy="176807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3F4A56"/>
                </a:solidFill>
                <a:latin typeface="Noto Sans JP"/>
              </a:rPr>
              <a:t>○明細無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850492" y="6036468"/>
            <a:ext cx="1128847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⟦Secondaryボタン(明細編集)⟧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10167481" y="4851945"/>
            <a:ext cx="1693271" cy="147339"/>
          </a:xfrm>
          <a:prstGeom prst="roundRect">
            <a:avLst/>
          </a:prstGeom>
          <a:solidFill>
            <a:srgbClr val="EDF1F5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0167481" y="4851945"/>
            <a:ext cx="1693271" cy="147339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100" b="1">
                <a:solidFill>
                  <a:srgbClr val="3F4A56"/>
                </a:solidFill>
                <a:latin typeface="Noto Sans JP"/>
              </a:rPr>
              <a:t>耐用年数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167481" y="4990355"/>
            <a:ext cx="1693271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⟦(新規)コード検索ボタン⟧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0167481" y="5015492"/>
            <a:ext cx="1693271" cy="147339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0221031" y="5015492"/>
            <a:ext cx="1586169" cy="147339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3F4A56"/>
                </a:solidFill>
                <a:latin typeface="Noto Sans JP"/>
              </a:rPr>
              <a:t>償却率　0.00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167481" y="5153903"/>
            <a:ext cx="1693271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token:bg-readonly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0167481" y="5179040"/>
            <a:ext cx="1693271" cy="147339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0221031" y="5179040"/>
            <a:ext cx="1586169" cy="147339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3F4A56"/>
                </a:solidFill>
                <a:latin typeface="Noto Sans JP"/>
              </a:rPr>
              <a:t>残存率　0.00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167481" y="5317450"/>
            <a:ext cx="1693271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token:bg-input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0167481" y="5342587"/>
            <a:ext cx="1693271" cy="147339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0221031" y="5342587"/>
            <a:ext cx="1586169" cy="147339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3F4A56"/>
                </a:solidFill>
                <a:latin typeface="Noto Sans JP"/>
              </a:rPr>
              <a:t>残存価額　0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0167481" y="5480997"/>
            <a:ext cx="1693271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token:bg-input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0167481" y="5506134"/>
            <a:ext cx="1693271" cy="147339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10221031" y="5506134"/>
            <a:ext cx="1586169" cy="147339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3F4A56"/>
                </a:solidFill>
                <a:latin typeface="Noto Sans JP"/>
              </a:rPr>
              <a:t>年間償却額　0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167481" y="5644544"/>
            <a:ext cx="1693271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token:bg-input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0167481" y="5669681"/>
            <a:ext cx="1693271" cy="147339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0221031" y="5669681"/>
            <a:ext cx="1586169" cy="147339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3F4A56"/>
                </a:solidFill>
                <a:latin typeface="Noto Sans JP"/>
              </a:rPr>
              <a:t>限度率　0.00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0167481" y="5808091"/>
            <a:ext cx="1693271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token:bg-input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10167481" y="5833229"/>
            <a:ext cx="1693271" cy="147339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10221031" y="5833229"/>
            <a:ext cx="1586169" cy="147339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>
                <a:solidFill>
                  <a:srgbClr val="3F4A56"/>
                </a:solidFill>
                <a:latin typeface="Noto Sans JP"/>
              </a:rPr>
              <a:t>償却限度額　0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167481" y="5971639"/>
            <a:ext cx="1693271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token:bg-input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2829972" y="6143625"/>
            <a:ext cx="1411059" cy="343792"/>
          </a:xfrm>
          <a:prstGeom prst="roundRect">
            <a:avLst/>
          </a:prstGeom>
          <a:solidFill>
            <a:srgbClr val="EDF1F5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2829972" y="6143625"/>
            <a:ext cx="1411059" cy="34379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100" b="1">
                <a:solidFill>
                  <a:srgbClr val="3F4A56"/>
                </a:solidFill>
                <a:latin typeface="Noto Sans JP"/>
              </a:rPr>
              <a:t>自由設定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2829972" y="6478488"/>
            <a:ext cx="1411059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⟦Secondaryボタン⟧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4335102" y="6143625"/>
            <a:ext cx="1411059" cy="343792"/>
          </a:xfrm>
          <a:prstGeom prst="roundRect">
            <a:avLst/>
          </a:prstGeom>
          <a:solidFill>
            <a:srgbClr val="EDF1F5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4335102" y="6143625"/>
            <a:ext cx="1411059" cy="34379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100" b="1">
                <a:solidFill>
                  <a:srgbClr val="3F4A56"/>
                </a:solidFill>
                <a:latin typeface="Noto Sans JP"/>
              </a:rPr>
              <a:t>財源設定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4335102" y="6478488"/>
            <a:ext cx="1411059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⟦Secondaryボタン⟧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8850492" y="6143625"/>
            <a:ext cx="940706" cy="343792"/>
          </a:xfrm>
          <a:prstGeom prst="roundRect">
            <a:avLst/>
          </a:prstGeom>
          <a:solidFill>
            <a:srgbClr val="EDF1F5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8850492" y="6143625"/>
            <a:ext cx="940706" cy="34379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100" b="1">
                <a:solidFill>
                  <a:srgbClr val="3F4A56"/>
                </a:solidFill>
                <a:latin typeface="Noto Sans JP"/>
              </a:rPr>
              <a:t>OK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8850492" y="6478488"/>
            <a:ext cx="940706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⟦Mainボタン⟧  token:primary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9885269" y="6143625"/>
            <a:ext cx="940706" cy="343792"/>
          </a:xfrm>
          <a:prstGeom prst="roundRect">
            <a:avLst/>
          </a:prstGeom>
          <a:solidFill>
            <a:srgbClr val="EDF1F5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9885269" y="6143625"/>
            <a:ext cx="940706" cy="34379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100" b="1">
                <a:solidFill>
                  <a:srgbClr val="3F4A56"/>
                </a:solidFill>
                <a:latin typeface="Noto Sans JP"/>
              </a:rPr>
              <a:t>クリア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9885269" y="6478488"/>
            <a:ext cx="940706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⟦Secondaryボタン⟧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10920046" y="6143625"/>
            <a:ext cx="940706" cy="343792"/>
          </a:xfrm>
          <a:prstGeom prst="roundRect">
            <a:avLst/>
          </a:prstGeom>
          <a:solidFill>
            <a:srgbClr val="EDF1F5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10920046" y="6143625"/>
            <a:ext cx="940706" cy="34379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100" b="1">
                <a:solidFill>
                  <a:srgbClr val="3F4A56"/>
                </a:solidFill>
                <a:latin typeface="Noto Sans JP"/>
              </a:rPr>
              <a:t>終了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0920046" y="6478488"/>
            <a:ext cx="940706" cy="125015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700" b="0">
                <a:solidFill>
                  <a:srgbClr val="1B6DB4"/>
                </a:solidFill>
                <a:latin typeface="Noto Sans JP"/>
              </a:rPr>
              <a:t>⟦Tertiary §3.1.5(終了→キャンセルボタンへ改名)⟧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