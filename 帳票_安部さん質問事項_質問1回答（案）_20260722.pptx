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54864"/>
            <a:ext cx="11430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Meiryo"/>
              </a:rPr>
              <a:t>【質問1 回答】事業名 左上（ガイドライン2.2）: 「事業」の定義を確定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2402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66666"/>
                </a:solidFill>
                <a:latin typeface="Meiryo"/>
              </a:rPr>
              <a:t>ガイドラインの「事業名」は、下記の定義Bを指します。個別工事事業（projectテーブル）とは無関係です。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743200"/>
            <a:ext cx="5577840" cy="265176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txBody>
          <a:bodyPr wrap="square" lIns="177800" rIns="177800" tIns="152400" bIns="152400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F3864"/>
                </a:solidFill>
                <a:latin typeface="Meiryo"/>
              </a:rPr>
              <a:t>対象外：個別工事事業（projectテーブル）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2222"/>
                </a:solidFill>
                <a:latin typeface="Meiryo"/>
              </a:rPr>
              <a:t>例：「A市大通り水道管改修事業」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Meiryo"/>
              </a:rPr>
              <a:t>1つの帳票に複数の事業が並ぶケースがある（例：JFP4031は
事業別に複数行が並ぶ集計表で、単一の事業名を持たない）。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D40000"/>
                </a:solidFill>
                <a:latin typeface="Meiryo"/>
              </a:rPr>
              <a:t>この単位は今回のガイドライン対応の対象外とする。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2743200"/>
            <a:ext cx="5577840" cy="2651760"/>
          </a:xfrm>
          <a:prstGeom prst="rect">
            <a:avLst/>
          </a:prstGeom>
          <a:solidFill>
            <a:srgbClr val="E3F2E3"/>
          </a:solidFill>
          <a:ln>
            <a:noFill/>
          </a:ln>
        </p:spPr>
        <p:txBody>
          <a:bodyPr wrap="square" lIns="177800" rIns="177800" tIns="152400" bIns="152400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F3864"/>
                </a:solidFill>
                <a:latin typeface="Meiryo"/>
              </a:rPr>
              <a:t>採用する定義：公営企業の事業種別
（水道事業／下水道事業）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2222"/>
                </a:solidFill>
                <a:latin typeface="Meiryo"/>
              </a:rPr>
              <a:t>例：「〇〇市水道事業会計」の「水道事業」部分。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Meiryo"/>
              </a:rPr>
              <a:t>全ての帳票は必ず1つの会計（＝1つの事業）に属する
ため、対応できない帳票は存在しない。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F3864"/>
                </a:solidFill>
                <a:latin typeface="Meiryo"/>
              </a:rPr>
              <a:t>→ 全帳票、例外なくこの単位で統一する。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700000"/>
            <a:ext cx="11430000" cy="900000"/>
          </a:xfrm>
          <a:prstGeom prst="rect">
            <a:avLst/>
          </a:prstGeom>
          <a:solidFill>
            <a:srgbClr val="FFF3C4"/>
          </a:solidFill>
          <a:ln>
            <a:noFill/>
          </a:ln>
        </p:spPr>
        <p:txBody>
          <a:bodyPr wrap="square" lIns="177800" tIns="127000">
            <a:spAutoFit/>
          </a:bodyPr>
          <a:lstStyle/>
          <a:p>
            <a:r>
              <a:rPr sz="1500" b="1">
                <a:solidFill>
                  <a:srgbClr val="D40000"/>
                </a:solidFill>
                <a:latin typeface="Meiryo"/>
              </a:rPr>
              <a:t>決定事項 → 「事業名」＝水道事業／下水道事業（定義B）に統一する</a:t>
            </a:r>
          </a:p>
          <a:p>
            <a:r>
              <a:rPr sz="1300" b="0">
                <a:solidFill>
                  <a:srgbClr val="222222"/>
                </a:solidFill>
                <a:latin typeface="Meiryo"/>
              </a:rPr>
              <a:t>個別工事事業（projectテーブル）を参照する実装は誤りです。全帳票で例外なく本定義に統一してください。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54864"/>
            <a:ext cx="11430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Meiryo"/>
              </a:rPr>
              <a:t>【質問1 回答】実装方針：全帳票の左上に事業種別を表示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2402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66666"/>
                </a:solidFill>
                <a:latin typeface="Meiryo"/>
              </a:rPr>
              <a:t>事業名を格納する構造化データが現状見当たらないため、データ取得方法の設計を含めて対応してください。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743200"/>
            <a:ext cx="5577840" cy="265176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txBody>
          <a:bodyPr wrap="square" lIns="177800" rIns="177800" tIns="152400" bIns="152400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F3864"/>
                </a:solidFill>
                <a:latin typeface="Meiryo"/>
              </a:rPr>
              <a:t>参考：弊社側で確認した現状（未確認事項含む）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Meiryo"/>
              </a:rPr>
              <a:t>・会計サブシステム(kaikei)：会計そのものを定義する
　マスタテーブルが見当たらない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Meiryo"/>
              </a:rPr>
              <a:t>・予算編成(yosan-hensei)：事業種別を持つカラムなし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Meiryo"/>
              </a:rPr>
              <a:t>・印刷側organizationテーブル：自治体名のみ、
　水道/下水道の区別なし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Meiryo"/>
              </a:rPr>
              <a:t>・支出負担(shishutu-hutan)：自由文字列の`kaikei`列と、
　`kaikei_checkbox_josuido`／`_gesuido`という個別
　ブールフラグのみ確認（構造化ラベルではない）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2743200"/>
            <a:ext cx="5577840" cy="2651760"/>
          </a:xfrm>
          <a:prstGeom prst="rect">
            <a:avLst/>
          </a:prstGeom>
          <a:solidFill>
            <a:srgbClr val="FFF3C4"/>
          </a:solidFill>
          <a:ln>
            <a:noFill/>
          </a:ln>
        </p:spPr>
        <p:txBody>
          <a:bodyPr wrap="square" lIns="177800" rIns="177800" tIns="152400" bIns="152400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D40000"/>
                </a:solidFill>
                <a:latin typeface="Meiryo"/>
              </a:rPr>
              <a:t>開発チームへの指示事項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22222"/>
                </a:solidFill>
                <a:latin typeface="Meiryo"/>
              </a:rPr>
              <a:t>① 全帳票の左上ヘッダーに、その帳票が属する会計の
　事業種別（水道事業／下水道事業）を例外なく表示する。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22222"/>
                </a:solidFill>
                <a:latin typeface="Meiryo"/>
              </a:rPr>
              <a:t>② データ取得方法（会計名からの導出／既存フラグの
　ラベル変換／会計マスタへの項目追加等）は
　貴チームの実装判断とする。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22222"/>
                </a:solidFill>
                <a:latin typeface="Meiryo"/>
              </a:rPr>
              <a:t>③ 個別工事事業（projectテーブル）は本対応と無関係
　のため参照しないこと。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